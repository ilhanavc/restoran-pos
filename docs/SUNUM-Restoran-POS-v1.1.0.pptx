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54880" y="0"/>
            <a:ext cx="7436815" cy="6858000"/>
          </a:xfrm>
          <a:prstGeom prst="rect">
            <a:avLst/>
          </a:prstGeom>
          <a:solidFill>
            <a:srgbClr val="E0E7FF"/>
          </a:solidFill>
          <a:ln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solidFill>
            <a:srgbClr val="6D64FF"/>
          </a:solidFill>
          <a:ln>
            <a:solidFill>
              <a:srgbClr val="6D6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201168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RESTORAN POS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20040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A5B4FC"/>
                </a:solidFill>
                <a:latin typeface="Calibri"/>
              </a:rPr>
              <a:t>Yazılım Gereksinimleri ve Özellik Sunumu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93192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Sürüm 1.1.0  ·  Mayıs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4572000"/>
            <a:ext cx="1828800" cy="36576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4754880"/>
            <a:ext cx="429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İlhan AVCİ  |  220357008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5212080"/>
            <a:ext cx="4297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CA3AF"/>
                </a:solidFill>
                <a:latin typeface="Calibri"/>
              </a:rPr>
              <a:t>Atatürk Üniversitesi
İktisadi ve İdari Bilimler Fakültesi
Yönetim Bilişim Sistemleri Bölümü</a:t>
            </a:r>
          </a:p>
        </p:txBody>
      </p:sp>
      <p:pic>
        <p:nvPicPr>
          <p:cNvPr id="12" name="Picture 11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365760"/>
            <a:ext cx="2103120" cy="27432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pic>
        <p:nvPicPr>
          <p:cNvPr id="13" name="Picture 12" descr="03-or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65760"/>
            <a:ext cx="2103120" cy="27432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pic>
        <p:nvPicPr>
          <p:cNvPr id="14" name="Picture 13" descr="08-repor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566160"/>
            <a:ext cx="2103120" cy="27432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pic>
        <p:nvPicPr>
          <p:cNvPr id="15" name="Picture 14" descr="02-tabl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3566160"/>
            <a:ext cx="2103120" cy="274320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029200" y="6492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4F46E5"/>
                </a:solidFill>
                <a:latin typeface="Calibri"/>
              </a:rPr>
              <a:t>Bitirme Projesi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GÜVENLİK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Giriş Ekranı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Rol Bazlı Kimlik Doğrulama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4 farklı kullanıcı rolü (Yönetici, Kasiyer, Garson, Mutfak)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JWT tabanlı oturum yönetimi (1 saat access token)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Demo hızlı giriş butonları ile tek tıkla erişim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Şifre politikası: min 8 karakter + büyük harf + rakam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Zorunlu şifre değiştirme akışı (admin reset sonrası)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'Şifremi Unuttum' sıfırlama talep akışı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bcrypt cost 10 · JWT · Refresh Token · Rate Limit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OPERASYON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Masa Yönetimi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Görsel Alan ve Doluluk Takibi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4 bölge (İç Salon, Bahçe, VIP, Üst Kat), 24 masa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Renk skalası ile anlık doluluk durumu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Masalar arası sipariş transferi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Masa kapasitesi ve alan yönetimi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Socket.io ile anlık durum güncellemeleri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Yoğun saatlerde hızlı masa seçimi optimizasyonu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Gerçek zamanlı senkronizasyon — Socket.io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2-ta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OPERASYON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Sipariş Akışı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Hızlı Kategori → Ürün → Sepet Süreci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Sol: Kategori listesi | Orta: Ürünler | Sağ: Sepet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Her ürün için modifier desteği (acılı, az pişmiş vb.)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Kalem bazlı özel not girişi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'Mutfağa Gönder' → Socket.io ile anlık mutfak güncellemesi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Sipariş düzenleme (adet, not, silme)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Yazıcı routing: her kategori farklı yazıcıya yönlendirilebilir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Sipariş → Mutfak gecikmesi: p95 &lt; 100 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3-or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OPERASYON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Ödeme Ekranı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Çoklu Ödeme Tipi ve Hızlı İşlem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Nakit / Kart / Karışık ödeme desteği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Hızlı tutar butonları: 50 / 100 / 200 / 500 TL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Para üstü otomatik hesaplaması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İndirim uygulama (tutar veya yüzde)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Ödeme tamamlanınca masa otomatik boşa düşer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Kasa fişi ESC/POS PC857 ile otomatik basılır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Ödeme → fiş: tam atomic transaction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4-pa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GERÇEK ZAMANLI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Mutfak Ekranı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Anlık Sipariş Takip ve Yaş Uyarıları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Aktif siparişler kart formatında listelenir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Yaş renk kodları: ⚪ 0-10 dk → 🟡 10-20 dk → 🔴 20+ dk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Kalem bazlı 'Hazırlandı' işaretleme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Socket.io: yeni sipariş → ekran anında güncellenir (yenileme yok)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Mutfak personeline özel sadeleştirilmiş arayüz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Sesli bildirim (yeni sipariş geldiğinde)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Polling yok — saf Socket.io real-time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5-kitch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DONANIM 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Paket Sipariş + CallerID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Otomatik Müşteri Tanıma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CallerID HID cihaz veya PowerShell pano dinleme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Kayıtlı müşteri arıyorsa adı ve adresi otomatik açılır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Yeni müşteri için hızlı kayıt formu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Çoklu teslimat adresi seçimi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Ödeme tipi seçimi zorunlu (nakit/kart — raporlar için)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Mutfak fişi otomatik basılır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CallerID: C# .NET 8 self-contained binary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6-takea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Müşteri Yönetimi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360° Müşteri Profili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Sayfalama: 50 kayıt/sayfa, 'Daha Fazla Yükle'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Arama: ad, soyad, telefon (normalize edilmiş)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360° profil: toplam harcama, sipariş sayısı, son ziyaret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En çok sipariş ettiği 3 ürün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Çoklu telefon ve adres yönetimi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Excel / CSV toplu import-export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Telefon normalize: E.164 benzeri dedupe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7-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ANALİTİK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Raporlar ve Analizler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4 İnteraktif Grafik + X/Z Dönem Kapatma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📈 Saatlik satış dağılımı (line chart)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🥧 Kategori dağılımı (pie chart)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🍩 Ödeme tipi oranı / nakit vs kart (donut)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📊 En çok satan ürünler top-10 (bar chart)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X Raporu (ara) / Z Raporu (gün sonu kapatma)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DB2777"/>
          </a:solidFill>
          <a:ln>
            <a:solidFill>
              <a:srgbClr val="DB27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Excel ve PDF dışa aktarma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Recharts + X/Z period close (kapalı döneme iade yasağı)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8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YÖNETİM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Menü Tanımları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Esnek Kategori ve Ürün Yönetimi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Sol panel: kategoriler | Sağ panel: ürünler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Kategori: ikon, renk, yazıcı hedefi seçimi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Ürün: resim, modifier grupları, kombo menü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Akıllı silme: geçmiş kayıt varsa soft-delete, yoksa hard-delete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Kategori bazlı printer routing (mutfak / bar / kasa)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Sıralama (drag-and-drop benzeri sort_order)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Hybrid delete: veri bütünlüğü korunur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09-menu-mg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SİSTEM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Ayarlar Merkezi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Tek Ekranda Tüm Yapılandırma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İşletme bilgileri (ad, telefon, adres, vergi no)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Kullanıcı yönetimi: ekle, rol değiştir, şifre sıfırla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Yazıcı tanımları ve IP/USB yapılandırması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Store Bridge durumu ve log görüntüleme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Sürüm notları ve güncelleme kontrolü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6B7280"/>
          </a:solidFill>
          <a:ln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Cihaz eşleştirme (QR kod ile mobil pairing)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electron-updater ile otomatik güncelleme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0-sett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VERİ GÜVENLİĞİ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Yedekleme ve Geri Yükleme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SHA-256 Doğrulamalı Güvenli Yedek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Otomatik yedek: gece 02:00 (cron)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İçerik: pos.db + uploads + pos-config.json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meta.json: rowCounts, sha256, integrityCheck, appVersion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30 gün otomatik rotasyon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Geri yükleme: 2 adımlı modal + SHA-256 bütünlük kontrolü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Başarısızsa otomatik safety revert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RPO: 24 saat · RTO: 15 dakika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1-ba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114800" cy="7315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22860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DENETİM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" y="594360"/>
            <a:ext cx="374903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Denetim Kayıtları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" y="137160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Kim, Ne, Ne Zaman — Tam İzlenebilirlik</a:t>
            </a:r>
          </a:p>
        </p:txBody>
      </p:sp>
      <p:sp>
        <p:nvSpPr>
          <p:cNvPr id="9" name="Rectangle 8"/>
          <p:cNvSpPr/>
          <p:nvPr/>
        </p:nvSpPr>
        <p:spPr>
          <a:xfrm>
            <a:off x="228600" y="1783080"/>
            <a:ext cx="1371600" cy="32004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28600" y="2039112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96596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Tüm önemli değişiklikler entity_mutations tablosunda saklanır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" y="2569464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496312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Before / After JSON karşılaştırma görünümü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" y="3099816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3026664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Filtreler: tablo, işlem tipi, tarih, kullanıcı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8600" y="3630167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3557015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Ürün, sipariş, ödeme, iade, müşteri, kullanıcı kayıtları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" y="4160520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087368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Immutable append-only (kayıt silinemez, değiştirilemez)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" y="4690872"/>
            <a:ext cx="64008" cy="64008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4617720"/>
            <a:ext cx="3611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Mali denetim ve sorumluluk takibi için kritik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2880" y="6035040"/>
            <a:ext cx="3749039" cy="502920"/>
          </a:xfrm>
          <a:prstGeom prst="rect">
            <a:avLst/>
          </a:prstGeom>
          <a:solidFill>
            <a:srgbClr val="1E293B"/>
          </a:solidFill>
          <a:ln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6053328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A5B4FC"/>
                </a:solidFill>
                <a:latin typeface="Calibri"/>
              </a:rPr>
              <a:t>🔧  Audit trail: OWASP A09 — Security Logging uyumu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137160"/>
            <a:ext cx="7726679" cy="62636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12-audit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4840" y="274320"/>
            <a:ext cx="7406640" cy="5989320"/>
          </a:xfrm>
          <a:prstGeom prst="rect">
            <a:avLst/>
          </a:prstGeom>
          <a:ln w="6350">
            <a:solidFill>
              <a:srgbClr val="D1D5DB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Teknoloji Yığını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Modern, test güdümlü ve güvenli bir yazılım mimarisi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17320"/>
            <a:ext cx="1828800" cy="34747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874519"/>
            <a:ext cx="73152" cy="731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React 18 + Vite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80359"/>
            <a:ext cx="73152" cy="731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React Router 6 (HashRouter)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886199"/>
            <a:ext cx="73152" cy="731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Recharts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92039"/>
            <a:ext cx="73152" cy="73152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288" y="1417320"/>
            <a:ext cx="1828800" cy="34747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04288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04288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395728" y="1874519"/>
            <a:ext cx="73152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32888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Node.js 20 + Express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5728" y="2880359"/>
            <a:ext cx="73152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32888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Socket.io 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95728" y="3886199"/>
            <a:ext cx="73152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32888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Zod validation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95728" y="4892039"/>
            <a:ext cx="73152" cy="73152"/>
          </a:xfrm>
          <a:prstGeom prst="rect">
            <a:avLst/>
          </a:prstGeom>
          <a:solidFill>
            <a:srgbClr val="059669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2888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jsonwebtoken + bcryptjs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42816" y="1417320"/>
            <a:ext cx="1828800" cy="34747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42816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Veri &amp; Depolama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2816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34256" y="1874519"/>
            <a:ext cx="73152" cy="7315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71416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better-sqlite3 (WAL)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34256" y="2880359"/>
            <a:ext cx="73152" cy="7315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71416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13 migration (forward-only)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34256" y="3886199"/>
            <a:ext cx="73152" cy="7315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71416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Dual-write _cents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34256" y="4892039"/>
            <a:ext cx="73152" cy="73152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71416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Snapshot kolonları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81344" y="1417320"/>
            <a:ext cx="1828800" cy="34747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81344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Masaüstü &amp; Paket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81344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2784" y="1874519"/>
            <a:ext cx="73152" cy="7315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9944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Electron 34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72784" y="2880359"/>
            <a:ext cx="73152" cy="7315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9944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electron-builder 24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72784" y="3886199"/>
            <a:ext cx="73152" cy="7315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9944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electron-updater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72784" y="4892039"/>
            <a:ext cx="73152" cy="73152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9944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C# .NET 8 CallerID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19872" y="1417320"/>
            <a:ext cx="1828800" cy="34747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19872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Gözlemlenebilirlik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19872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211312" y="1874519"/>
            <a:ext cx="73152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348472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Pino NDJSON logging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211312" y="2880359"/>
            <a:ext cx="73152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48472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Sentry + redact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11312" y="3886199"/>
            <a:ext cx="73152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48472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X-Request-Id corr.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11312" y="4892039"/>
            <a:ext cx="73152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48472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Crash reporter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058400" y="1417320"/>
            <a:ext cx="1828800" cy="34747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058400" y="1417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Test &amp; Kalite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058400" y="1764792"/>
            <a:ext cx="1828800" cy="45720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149840" y="1874519"/>
            <a:ext cx="73152" cy="7315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287000" y="182880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Vitest + Supertest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149840" y="2880359"/>
            <a:ext cx="73152" cy="7315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287000" y="283464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Playwright E2E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149840" y="3886199"/>
            <a:ext cx="73152" cy="7315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287000" y="384048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GitHub Actions CI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0149840" y="4892039"/>
            <a:ext cx="73152" cy="73152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0287000" y="4846320"/>
            <a:ext cx="15087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ESLint 0 warning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4F6"/>
          </a:solidFill>
          <a:ln>
            <a:solidFill>
              <a:srgbClr val="F3F4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Kalite Metrikleri ve Proje Kapsamı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A5B4FC"/>
                </a:solidFill>
                <a:latin typeface="Calibri"/>
              </a:rPr>
              <a:t>452 otomatik test · 0 lint uyarı · 9.3/10 genel kalite skoru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828800" cy="5486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4F46E5"/>
                </a:solidFill>
                <a:latin typeface="Calibri"/>
              </a:rPr>
              <a:t>452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Otomatik Test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59152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59152" y="1280160"/>
            <a:ext cx="1828800" cy="54864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59152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16A34A"/>
                </a:solidFill>
                <a:latin typeface="Calibr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59152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Lint Uyarı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52544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52544" y="1280160"/>
            <a:ext cx="1828800" cy="54864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97706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52544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Migration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45936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5936" y="1280160"/>
            <a:ext cx="1828800" cy="54864"/>
          </a:xfrm>
          <a:prstGeom prst="rect">
            <a:avLst/>
          </a:prstGeom>
          <a:solidFill>
            <a:srgbClr val="DC2626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5936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DC2626"/>
                </a:solidFill>
                <a:latin typeface="Calibri"/>
              </a:rPr>
              <a:t>9.3/10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Kalite Skoru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8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39328" y="1280160"/>
            <a:ext cx="1828800" cy="54864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7C3AED"/>
                </a:solidFill>
                <a:latin typeface="Calibri"/>
              </a:rPr>
              <a:t>30+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Tablo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332720" y="1280160"/>
            <a:ext cx="1828800" cy="146304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332720" y="1280160"/>
            <a:ext cx="1828800" cy="54864"/>
          </a:xfrm>
          <a:prstGeom prst="rect">
            <a:avLst/>
          </a:prstGeom>
          <a:solidFill>
            <a:srgbClr val="0E90D2"/>
          </a:solidFill>
          <a:ln>
            <a:solidFill>
              <a:srgbClr val="0E90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32720" y="1463040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0E90D2"/>
                </a:solidFill>
                <a:latin typeface="Calibri"/>
              </a:rPr>
              <a:t>60+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22402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280"/>
                </a:solidFill>
                <a:latin typeface="Calibri"/>
              </a:rPr>
              <a:t>API Endpoint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72A"/>
                </a:solidFill>
                <a:latin typeface="Calibri"/>
              </a:rPr>
              <a:t>Geliştirme Yol Haritası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474720"/>
            <a:ext cx="91440" cy="914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Sprint 1-3: Güvenlik, Yazıcı, UX Temelleri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950208"/>
            <a:ext cx="91440" cy="914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90448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Sprint 4-6: Yeni Özellikler + Real-Time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425696"/>
            <a:ext cx="91440" cy="914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4379976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Sprint 7-8: Test Kapsamı + Prod Hardening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901184"/>
            <a:ext cx="91440" cy="914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40" y="485546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Sprint 9-10: Feature Completion + Audit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376672"/>
            <a:ext cx="91440" cy="914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330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Sprint 11-12: Backup/Restore + Repo Temizlik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474720"/>
            <a:ext cx="91440" cy="91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34290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D-1...D-5: CI, Sertleştirme, Decomposition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950208"/>
            <a:ext cx="91440" cy="91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90448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DB-1...DB-4: Migration, Audit Trail, Para, Snapshot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4425696"/>
            <a:ext cx="91440" cy="91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4379976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C-1, C-2: Cloud Desteği + Refresh Token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901184"/>
            <a:ext cx="91440" cy="91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85546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M-1.1, M-1.2: Mobil Endpoint + Cihaz Pairing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5376672"/>
            <a:ext cx="91440" cy="91440"/>
          </a:xfrm>
          <a:prstGeom prst="rect">
            <a:avLst/>
          </a:prstGeom>
          <a:solidFill>
            <a:srgbClr val="16A34A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5330952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F172A"/>
                </a:solidFill>
                <a:latin typeface="Calibri"/>
              </a:rPr>
              <a:t>FAZ 0 (0.1-0.9): Tüm Güvenlik Önlemleri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0" y="2103120"/>
            <a:ext cx="6400800" cy="4572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097280"/>
            <a:ext cx="121916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600" b="1" i="0">
                <a:solidFill>
                  <a:srgbClr val="FFFFFF"/>
                </a:solidFill>
                <a:latin typeface="Calibri"/>
              </a:rPr>
              <a:t>Teşekkürler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23317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A5B4FC"/>
                </a:solidFill>
                <a:latin typeface="Calibri"/>
              </a:rPr>
              <a:t>İlhan AVCİ  ·  220357008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26080"/>
            <a:ext cx="121916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280"/>
                </a:solidFill>
                <a:latin typeface="Calibri"/>
              </a:rPr>
              <a:t>Atatürk Üniversitesi  ·  İktisadi ve İdari Bilimler Fakültesi
Yönetim Bilişim Sistemleri Bölümü  ·  Bitirme Projesi  ·  Mayıs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840480"/>
            <a:ext cx="5669280" cy="1828800"/>
          </a:xfrm>
          <a:prstGeom prst="rect">
            <a:avLst/>
          </a:prstGeom>
          <a:solidFill>
            <a:srgbClr val="1C243B"/>
          </a:solidFill>
          <a:ln>
            <a:solidFill>
              <a:srgbClr val="1C2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0" y="3840480"/>
            <a:ext cx="5669280" cy="54864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4023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5B4FC"/>
                </a:solidFill>
                <a:latin typeface="Calibri"/>
              </a:rPr>
              <a:t>📦 Uygulama: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4023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github.com/ilhanavc/restoran-pos/releases/tag/v1.1.0-graduation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5262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5B4FC"/>
                </a:solidFill>
                <a:latin typeface="Calibri"/>
              </a:rPr>
              <a:t>🐙 Kaynak Kod: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4526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github.com/ilhanavc/restoran-pos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502920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5B4FC"/>
                </a:solidFill>
                <a:latin typeface="Calibri"/>
              </a:rPr>
              <a:t>📧 İletişim: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50292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ilhanavci499@gmail.com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solidFill>
            <a:srgbClr val="4F46E5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277295" y="653796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